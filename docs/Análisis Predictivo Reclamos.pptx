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9" r:id="rId4"/>
    <p:sldId id="270" r:id="rId5"/>
    <p:sldId id="259" r:id="rId6"/>
    <p:sldId id="271" r:id="rId7"/>
    <p:sldId id="272" r:id="rId8"/>
    <p:sldId id="273" r:id="rId9"/>
    <p:sldId id="274" r:id="rId10"/>
    <p:sldId id="27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138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1606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CA020-EAE9-D06E-A722-F0043C818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72CD17-26F4-1A0C-E1BA-FAE9C3878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7BCA47-F2E9-8934-41FB-17188C4810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E1CBE-1A36-BB83-ED77-D98341E345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5370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B15DF-E268-986E-AAA5-A31B0A792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14D6B6-E2D2-8BD8-4D6F-207E6DCB0B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0A88C5-58B4-156E-47DB-58866B3B20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53AC21-8F8C-0C81-337F-238932A48B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7975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8B3C2-E481-3424-5256-F1348A61D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15A1FC-377E-7362-DF6F-2C37B4A651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A101AE-52C4-6A22-384F-7D3853E163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909539-E0A7-9170-29CC-3965AC01A3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3710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8B46B-0AE5-C92E-6E81-5E7811F53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102629-D1B9-C717-B9A3-CAABFC4796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B421F6-AE33-A1C9-5FDE-91D8BA2D00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7E4407-77FD-7D80-8937-3870339CD6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306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471C5-5B13-9CD7-2273-75DC1FFD9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6ED134-818A-F6DB-D156-2A28A46690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E72A16-217C-41F3-373A-D7F9C5924A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F4F770-BF7D-ACEF-6ADA-CA258D2931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8180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9BD18-CD22-F3BE-ECD0-B0EF45845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EB8964-E0C6-0900-6212-A46FB65DAE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53BE2C-7645-4B5E-BFF8-A94F1DB65F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22016A-3788-3B72-BAA6-6CDFBD1A61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5148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BC5D6-F372-2D60-124F-C7ED89941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20815F-C1DE-0009-7499-56930F2884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1C3936-AC0C-58D4-722A-3309D8016E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3F0599-8894-B92F-ABBB-A5298AA536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218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7023" y="1503164"/>
            <a:ext cx="6489954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s-CO" sz="3600" b="1" dirty="0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Estrategia de Modelado Predictivo: </a:t>
            </a:r>
            <a:r>
              <a:rPr lang="es-CO" sz="3600" b="1" dirty="0" err="1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Insurance</a:t>
            </a:r>
            <a:r>
              <a:rPr lang="es-CO" sz="3600" b="1" dirty="0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s-CO" sz="3600" b="1" dirty="0" err="1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Claims</a:t>
            </a:r>
            <a:endParaRPr lang="es-CO" sz="3600" b="1" dirty="0">
              <a:solidFill>
                <a:srgbClr val="38BDF8"/>
              </a:solidFill>
              <a:latin typeface="Arial" pitchFamily="34" charset="0"/>
              <a:cs typeface="Arial" pitchFamily="34" charset="-120"/>
            </a:endParaRPr>
          </a:p>
          <a:p>
            <a:r>
              <a:rPr lang="es-CO" sz="3600" b="1" dirty="0"/>
              <a:t>Framework Metodológico: CRISP-DM</a:t>
            </a:r>
            <a:endParaRPr lang="es-CO" sz="3600" dirty="0"/>
          </a:p>
        </p:txBody>
      </p:sp>
      <p:sp>
        <p:nvSpPr>
          <p:cNvPr id="3" name="Text 1"/>
          <p:cNvSpPr/>
          <p:nvPr/>
        </p:nvSpPr>
        <p:spPr>
          <a:xfrm>
            <a:off x="2492883" y="2204145"/>
            <a:ext cx="415823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26191" y="2828925"/>
            <a:ext cx="609161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2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 del desempeño de modelos predictivos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87890" y="3453705"/>
            <a:ext cx="176822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Scientist Senior | Allianz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181595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9144001" cy="118073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524784" y="186028"/>
            <a:ext cx="5297791" cy="869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KPIs de Negocio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42CC137-E50A-6F34-776E-C7BB053A81CE}"/>
              </a:ext>
            </a:extLst>
          </p:cNvPr>
          <p:cNvSpPr txBox="1"/>
          <p:nvPr/>
        </p:nvSpPr>
        <p:spPr>
          <a:xfrm>
            <a:off x="6429374" y="293124"/>
            <a:ext cx="2425189" cy="6552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3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Objetivo</a:t>
            </a:r>
            <a:r>
              <a:rPr lang="en-US" sz="13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: </a:t>
            </a:r>
            <a:r>
              <a:rPr lang="en-US" sz="13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Identificar</a:t>
            </a:r>
            <a:r>
              <a:rPr lang="en-US" sz="13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3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pólizas</a:t>
            </a:r>
            <a:r>
              <a:rPr lang="en-US" sz="13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con </a:t>
            </a:r>
            <a:r>
              <a:rPr lang="en-US" sz="13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alta</a:t>
            </a:r>
            <a:r>
              <a:rPr lang="en-US" sz="13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3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probabilidad</a:t>
            </a:r>
            <a:r>
              <a:rPr lang="en-US" sz="13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13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siniestro</a:t>
            </a:r>
            <a:r>
              <a:rPr lang="en-US" sz="13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para </a:t>
            </a:r>
            <a:r>
              <a:rPr lang="en-US" sz="13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optimización</a:t>
            </a:r>
            <a:r>
              <a:rPr lang="en-US" sz="13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13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primas</a:t>
            </a:r>
            <a:r>
              <a:rPr lang="en-US" sz="13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0B41D1F2-3F20-896E-855F-639C1EE979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3569129"/>
              </p:ext>
            </p:extLst>
          </p:nvPr>
        </p:nvGraphicFramePr>
        <p:xfrm>
          <a:off x="324168" y="1639462"/>
          <a:ext cx="8495663" cy="3009636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3585256">
                  <a:extLst>
                    <a:ext uri="{9D8B030D-6E8A-4147-A177-3AD203B41FA5}">
                      <a16:colId xmlns:a16="http://schemas.microsoft.com/office/drawing/2014/main" val="38526600"/>
                    </a:ext>
                  </a:extLst>
                </a:gridCol>
                <a:gridCol w="4910407">
                  <a:extLst>
                    <a:ext uri="{9D8B030D-6E8A-4147-A177-3AD203B41FA5}">
                      <a16:colId xmlns:a16="http://schemas.microsoft.com/office/drawing/2014/main" val="2226160931"/>
                    </a:ext>
                  </a:extLst>
                </a:gridCol>
              </a:tblGrid>
              <a:tr h="623865">
                <a:tc>
                  <a:txBody>
                    <a:bodyPr/>
                    <a:lstStyle/>
                    <a:p>
                      <a:r>
                        <a:rPr lang="es-CO" sz="1800" b="0" cap="all" spc="150">
                          <a:solidFill>
                            <a:schemeClr val="lt1"/>
                          </a:solidFill>
                        </a:rPr>
                        <a:t>KPI</a:t>
                      </a:r>
                    </a:p>
                  </a:txBody>
                  <a:tcPr marL="154252" marR="154252" marT="154252" marB="15425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800" b="0" cap="all" spc="150">
                          <a:solidFill>
                            <a:schemeClr val="lt1"/>
                          </a:solidFill>
                        </a:rPr>
                        <a:t>DEFINICIÓN</a:t>
                      </a:r>
                    </a:p>
                  </a:txBody>
                  <a:tcPr marL="154252" marR="154252" marT="154252" marB="154252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4104919"/>
                  </a:ext>
                </a:extLst>
              </a:tr>
              <a:tr h="795257">
                <a:tc>
                  <a:txBody>
                    <a:bodyPr/>
                    <a:lstStyle/>
                    <a:p>
                      <a:pPr algn="ctr"/>
                      <a:r>
                        <a:rPr lang="es-CO" sz="1500" cap="none" spc="0" err="1">
                          <a:solidFill>
                            <a:schemeClr val="tx1"/>
                          </a:solidFill>
                        </a:rPr>
                        <a:t>Lift</a:t>
                      </a:r>
                      <a:endParaRPr lang="es-CO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4252" marR="154252" marT="154252" marB="15425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1500" cap="none" spc="0">
                          <a:solidFill>
                            <a:schemeClr val="tx1"/>
                          </a:solidFill>
                        </a:rPr>
                        <a:t>Acumulado de clasificación en el Top 20%  de probabilidades generadas del modelo</a:t>
                      </a:r>
                    </a:p>
                  </a:txBody>
                  <a:tcPr marL="154252" marR="154252" marT="154252" marB="15425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2823370"/>
                  </a:ext>
                </a:extLst>
              </a:tr>
              <a:tr h="795257">
                <a:tc>
                  <a:txBody>
                    <a:bodyPr/>
                    <a:lstStyle/>
                    <a:p>
                      <a:pPr algn="ctr"/>
                      <a:r>
                        <a:rPr lang="es-CO" sz="1500" cap="none" spc="0" err="1">
                          <a:solidFill>
                            <a:schemeClr val="tx1"/>
                          </a:solidFill>
                        </a:rPr>
                        <a:t>Precision</a:t>
                      </a:r>
                      <a:r>
                        <a:rPr lang="es-CO" sz="1500" cap="none" spc="0">
                          <a:solidFill>
                            <a:schemeClr val="tx1"/>
                          </a:solidFill>
                        </a:rPr>
                        <a:t> @ k</a:t>
                      </a:r>
                    </a:p>
                  </a:txBody>
                  <a:tcPr marL="154252" marR="154252" marT="154252" marB="15425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O" sz="1500" cap="none" spc="0">
                          <a:solidFill>
                            <a:schemeClr val="tx1"/>
                          </a:solidFill>
                        </a:rPr>
                        <a:t>Tasa de Acierto en el top 20 de mayores probabilidades generadas</a:t>
                      </a:r>
                    </a:p>
                  </a:txBody>
                  <a:tcPr marL="154252" marR="154252" marT="154252" marB="15425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774714"/>
                  </a:ext>
                </a:extLst>
              </a:tr>
              <a:tr h="795257">
                <a:tc>
                  <a:txBody>
                    <a:bodyPr/>
                    <a:lstStyle/>
                    <a:p>
                      <a:pPr algn="ctr"/>
                      <a:r>
                        <a:rPr lang="es-CO" sz="1500" b="0" i="0" kern="1200" cap="none" spc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Recall</a:t>
                      </a:r>
                      <a:r>
                        <a:rPr lang="es-CO" sz="1500" b="0" i="0" kern="1200" cap="none" spc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@ k</a:t>
                      </a:r>
                      <a:endParaRPr lang="es-CO" sz="1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4252" marR="154252" marT="154252" marB="15425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O" sz="1500" cap="none" spc="0">
                          <a:solidFill>
                            <a:schemeClr val="tx1"/>
                          </a:solidFill>
                        </a:rPr>
                        <a:t>Porcentaje del total de siniestros detectados en el top 20% sobre el total de siniestros del conjunto de datos</a:t>
                      </a:r>
                    </a:p>
                  </a:txBody>
                  <a:tcPr marL="154252" marR="154252" marT="154252" marB="15425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834627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E4F6FD-7EB9-C4FF-D9AB-2BDEFF2F6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78886" y="479460"/>
            <a:ext cx="51435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94905" y="296405"/>
            <a:ext cx="4759657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6680" y="2114225"/>
            <a:ext cx="1876484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18752" y="639595"/>
            <a:ext cx="51435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614065" y="846373"/>
            <a:ext cx="3238727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42B49D2B-0FC4-5C46-24C4-E5950CAC744F}"/>
              </a:ext>
            </a:extLst>
          </p:cNvPr>
          <p:cNvSpPr/>
          <p:nvPr/>
        </p:nvSpPr>
        <p:spPr>
          <a:xfrm>
            <a:off x="619797" y="440141"/>
            <a:ext cx="3172575" cy="25406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Análisis Exploratorio de Datos (EDA)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E2334E1-2360-EC5B-C978-14B638D30981}"/>
              </a:ext>
            </a:extLst>
          </p:cNvPr>
          <p:cNvSpPr/>
          <p:nvPr/>
        </p:nvSpPr>
        <p:spPr>
          <a:xfrm>
            <a:off x="4877368" y="487110"/>
            <a:ext cx="3646835" cy="41595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US" sz="1400" dirty="0" err="1"/>
              <a:t>Metodología</a:t>
            </a:r>
            <a:r>
              <a:rPr lang="en-US" sz="1400" dirty="0"/>
              <a:t>: </a:t>
            </a:r>
            <a:r>
              <a:rPr lang="en-US" sz="1400" dirty="0" err="1"/>
              <a:t>Análisis</a:t>
            </a:r>
            <a:r>
              <a:rPr lang="en-US" sz="1400" dirty="0"/>
              <a:t> </a:t>
            </a:r>
            <a:r>
              <a:rPr lang="en-US" sz="1400" dirty="0" err="1"/>
              <a:t>univariado</a:t>
            </a:r>
            <a:r>
              <a:rPr lang="en-US" sz="1400" dirty="0"/>
              <a:t> y </a:t>
            </a:r>
            <a:r>
              <a:rPr lang="en-US" sz="1400" dirty="0" err="1"/>
              <a:t>bivariado</a:t>
            </a:r>
            <a:r>
              <a:rPr lang="en-US" sz="1400" dirty="0"/>
              <a:t> con matrices de </a:t>
            </a:r>
            <a:r>
              <a:rPr lang="en-US" sz="1400" dirty="0" err="1"/>
              <a:t>correlación</a:t>
            </a:r>
            <a:r>
              <a:rPr lang="en-US" sz="1400" dirty="0"/>
              <a:t> </a:t>
            </a:r>
            <a:r>
              <a:rPr lang="en-US" sz="1400" dirty="0" err="1"/>
              <a:t>Phik</a:t>
            </a:r>
            <a:r>
              <a:rPr lang="en-US" sz="1400" dirty="0"/>
              <a:t> y </a:t>
            </a:r>
            <a:r>
              <a:rPr lang="en-US" sz="1400" dirty="0" err="1"/>
              <a:t>visualización</a:t>
            </a:r>
            <a:r>
              <a:rPr lang="en-US" sz="1400" dirty="0"/>
              <a:t> de </a:t>
            </a:r>
            <a:r>
              <a:rPr lang="en-US" sz="1400" dirty="0" err="1"/>
              <a:t>densidades</a:t>
            </a:r>
            <a:r>
              <a:rPr lang="en-US" sz="1400" dirty="0"/>
              <a:t>.</a:t>
            </a:r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br>
              <a:rPr lang="en-US" sz="1400" dirty="0"/>
            </a:br>
            <a:r>
              <a:rPr lang="en-US" sz="1400" dirty="0"/>
              <a:t>Insights </a:t>
            </a:r>
            <a:r>
              <a:rPr lang="en-US" sz="1400" dirty="0" err="1"/>
              <a:t>Críticos</a:t>
            </a:r>
            <a:r>
              <a:rPr lang="en-US" sz="1400" dirty="0"/>
              <a:t>:</a:t>
            </a: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Poder </a:t>
            </a:r>
            <a:r>
              <a:rPr lang="en-US" sz="1400" dirty="0" err="1"/>
              <a:t>Explicativo</a:t>
            </a:r>
            <a:r>
              <a:rPr lang="en-US" sz="1400" dirty="0"/>
              <a:t> </a:t>
            </a:r>
            <a:r>
              <a:rPr lang="en-US" sz="1400" dirty="0" err="1"/>
              <a:t>Débil</a:t>
            </a:r>
            <a:r>
              <a:rPr lang="en-US" sz="1400" dirty="0"/>
              <a:t>: Se </a:t>
            </a:r>
            <a:r>
              <a:rPr lang="en-US" sz="1400" dirty="0" err="1"/>
              <a:t>observa</a:t>
            </a:r>
            <a:r>
              <a:rPr lang="en-US" sz="1400" dirty="0"/>
              <a:t> </a:t>
            </a:r>
            <a:r>
              <a:rPr lang="en-US" sz="1400" dirty="0" err="1"/>
              <a:t>una</a:t>
            </a:r>
            <a:r>
              <a:rPr lang="en-US" sz="1400" dirty="0"/>
              <a:t> </a:t>
            </a:r>
            <a:r>
              <a:rPr lang="en-US" sz="1400" dirty="0" err="1"/>
              <a:t>superposición</a:t>
            </a:r>
            <a:r>
              <a:rPr lang="en-US" sz="1400" dirty="0"/>
              <a:t> </a:t>
            </a:r>
            <a:r>
              <a:rPr lang="en-US" sz="1400" dirty="0" err="1"/>
              <a:t>significativa</a:t>
            </a:r>
            <a:r>
              <a:rPr lang="en-US" sz="1400" dirty="0"/>
              <a:t> </a:t>
            </a:r>
            <a:r>
              <a:rPr lang="en-US" sz="1400" dirty="0" err="1"/>
              <a:t>en</a:t>
            </a:r>
            <a:r>
              <a:rPr lang="en-US" sz="1400" dirty="0"/>
              <a:t> las </a:t>
            </a:r>
            <a:r>
              <a:rPr lang="en-US" sz="1400" dirty="0" err="1"/>
              <a:t>distribuciones</a:t>
            </a:r>
            <a:r>
              <a:rPr lang="en-US" sz="1400" dirty="0"/>
              <a:t> de las variables entre las </a:t>
            </a:r>
            <a:r>
              <a:rPr lang="en-US" sz="1400" dirty="0" err="1"/>
              <a:t>clases</a:t>
            </a:r>
            <a:r>
              <a:rPr lang="en-US" sz="1400" dirty="0"/>
              <a:t> claim (1) y no-claim (0). No </a:t>
            </a:r>
            <a:r>
              <a:rPr lang="en-US" sz="1400" dirty="0" err="1"/>
              <a:t>existe</a:t>
            </a:r>
            <a:r>
              <a:rPr lang="en-US" sz="1400" dirty="0"/>
              <a:t> </a:t>
            </a:r>
            <a:r>
              <a:rPr lang="en-US" sz="1400" dirty="0" err="1"/>
              <a:t>evidencia</a:t>
            </a:r>
            <a:r>
              <a:rPr lang="en-US" sz="1400" dirty="0"/>
              <a:t> de </a:t>
            </a:r>
            <a:r>
              <a:rPr lang="en-US" sz="1400" dirty="0" err="1"/>
              <a:t>una</a:t>
            </a:r>
            <a:r>
              <a:rPr lang="en-US" sz="1400" dirty="0"/>
              <a:t> variable </a:t>
            </a:r>
            <a:r>
              <a:rPr lang="en-US" sz="1400" dirty="0" err="1"/>
              <a:t>que</a:t>
            </a:r>
            <a:r>
              <a:rPr lang="en-US" sz="1400" dirty="0"/>
              <a:t> </a:t>
            </a:r>
            <a:r>
              <a:rPr lang="en-US" sz="1400" dirty="0" err="1"/>
              <a:t>separe</a:t>
            </a:r>
            <a:r>
              <a:rPr lang="en-US" sz="1400" dirty="0"/>
              <a:t> </a:t>
            </a:r>
            <a:r>
              <a:rPr lang="en-US" sz="1400" dirty="0" err="1"/>
              <a:t>linealmente</a:t>
            </a:r>
            <a:r>
              <a:rPr lang="en-US" sz="1400" dirty="0"/>
              <a:t> </a:t>
            </a:r>
            <a:r>
              <a:rPr lang="en-US" sz="1400" dirty="0" err="1"/>
              <a:t>los</a:t>
            </a:r>
            <a:r>
              <a:rPr lang="en-US" sz="1400" dirty="0"/>
              <a:t> </a:t>
            </a:r>
            <a:r>
              <a:rPr lang="en-US" sz="1400" dirty="0" err="1"/>
              <a:t>casos</a:t>
            </a:r>
            <a:r>
              <a:rPr lang="en-US" sz="1400" dirty="0"/>
              <a:t> de </a:t>
            </a:r>
            <a:r>
              <a:rPr lang="en-US" sz="1400" dirty="0" err="1"/>
              <a:t>reclamo</a:t>
            </a:r>
            <a:r>
              <a:rPr lang="en-US" sz="1400" dirty="0"/>
              <a:t>.​</a:t>
            </a: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Correlaciones</a:t>
            </a:r>
            <a:r>
              <a:rPr lang="en-US" sz="1400" dirty="0"/>
              <a:t> Bajas: Las matrices de </a:t>
            </a:r>
            <a:r>
              <a:rPr lang="en-US" sz="1400" dirty="0" err="1"/>
              <a:t>correlación</a:t>
            </a:r>
            <a:r>
              <a:rPr lang="en-US" sz="1400" dirty="0"/>
              <a:t> </a:t>
            </a:r>
            <a:r>
              <a:rPr lang="en-US" sz="1400" dirty="0" err="1"/>
              <a:t>muestran</a:t>
            </a:r>
            <a:r>
              <a:rPr lang="en-US" sz="1400" dirty="0"/>
              <a:t> </a:t>
            </a:r>
            <a:r>
              <a:rPr lang="en-US" sz="1400" dirty="0" err="1"/>
              <a:t>valores</a:t>
            </a:r>
            <a:r>
              <a:rPr lang="en-US" sz="1400" dirty="0"/>
              <a:t> </a:t>
            </a:r>
            <a:r>
              <a:rPr lang="en-US" sz="1400" dirty="0" err="1"/>
              <a:t>cercanos</a:t>
            </a:r>
            <a:r>
              <a:rPr lang="en-US" sz="1400" dirty="0"/>
              <a:t> a cero para </a:t>
            </a:r>
            <a:r>
              <a:rPr lang="en-US" sz="1400" dirty="0" err="1"/>
              <a:t>el</a:t>
            </a:r>
            <a:r>
              <a:rPr lang="en-US" sz="1400" dirty="0"/>
              <a:t> conjunto de variables </a:t>
            </a:r>
            <a:r>
              <a:rPr lang="en-US" sz="1400" dirty="0" err="1"/>
              <a:t>mecánicas</a:t>
            </a:r>
            <a:r>
              <a:rPr lang="en-US" sz="1400" dirty="0"/>
              <a:t> </a:t>
            </a:r>
            <a:r>
              <a:rPr lang="en-US" sz="1400" dirty="0" err="1"/>
              <a:t>indicando</a:t>
            </a:r>
            <a:r>
              <a:rPr lang="en-US" sz="1400" dirty="0"/>
              <a:t> </a:t>
            </a:r>
            <a:r>
              <a:rPr lang="en-US" sz="1400" dirty="0" err="1"/>
              <a:t>que</a:t>
            </a:r>
            <a:r>
              <a:rPr lang="en-US" sz="1400" dirty="0"/>
              <a:t> las </a:t>
            </a:r>
            <a:r>
              <a:rPr lang="en-US" sz="1400" dirty="0" err="1"/>
              <a:t>especificaciones</a:t>
            </a:r>
            <a:r>
              <a:rPr lang="en-US" sz="1400" dirty="0"/>
              <a:t> </a:t>
            </a:r>
            <a:r>
              <a:rPr lang="en-US" sz="1400" dirty="0" err="1"/>
              <a:t>mecánicas</a:t>
            </a:r>
            <a:r>
              <a:rPr lang="en-US" sz="1400" dirty="0"/>
              <a:t> </a:t>
            </a:r>
            <a:r>
              <a:rPr lang="en-US" sz="1400" dirty="0" err="1"/>
              <a:t>por</a:t>
            </a:r>
            <a:r>
              <a:rPr lang="en-US" sz="1400" dirty="0"/>
              <a:t> </a:t>
            </a:r>
            <a:r>
              <a:rPr lang="en-US" sz="1400" dirty="0" err="1"/>
              <a:t>sí</a:t>
            </a:r>
            <a:r>
              <a:rPr lang="en-US" sz="1400" dirty="0"/>
              <a:t> </a:t>
            </a:r>
            <a:r>
              <a:rPr lang="en-US" sz="1400" dirty="0" err="1"/>
              <a:t>solas</a:t>
            </a:r>
            <a:r>
              <a:rPr lang="en-US" sz="1400" dirty="0"/>
              <a:t> no </a:t>
            </a:r>
            <a:r>
              <a:rPr lang="en-US" sz="1400" dirty="0" err="1"/>
              <a:t>dictan</a:t>
            </a:r>
            <a:r>
              <a:rPr lang="en-US" sz="1400" dirty="0"/>
              <a:t> </a:t>
            </a:r>
            <a:r>
              <a:rPr lang="en-US" sz="1400" dirty="0" err="1"/>
              <a:t>el</a:t>
            </a:r>
            <a:r>
              <a:rPr lang="en-US" sz="1400" dirty="0"/>
              <a:t> </a:t>
            </a:r>
            <a:r>
              <a:rPr lang="en-US" sz="1400" dirty="0" err="1"/>
              <a:t>comportamiento</a:t>
            </a:r>
            <a:r>
              <a:rPr lang="en-US" sz="1400" dirty="0"/>
              <a:t> del </a:t>
            </a:r>
            <a:r>
              <a:rPr lang="en-US" sz="1400" dirty="0" err="1"/>
              <a:t>siniestro</a:t>
            </a:r>
            <a:r>
              <a:rPr lang="en-US" sz="1400" dirty="0"/>
              <a:t> </a:t>
            </a:r>
            <a:r>
              <a:rPr lang="en-US" sz="1400" dirty="0" err="1"/>
              <a:t>en</a:t>
            </a:r>
            <a:r>
              <a:rPr lang="en-US" sz="1400" dirty="0"/>
              <a:t> </a:t>
            </a:r>
            <a:r>
              <a:rPr lang="en-US" sz="1400" dirty="0" err="1"/>
              <a:t>este</a:t>
            </a:r>
            <a:r>
              <a:rPr lang="en-US" sz="1400" dirty="0"/>
              <a:t> conjunto de </a:t>
            </a:r>
            <a:r>
              <a:rPr lang="en-US" sz="1400" dirty="0" err="1"/>
              <a:t>datos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0432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F169D0-29B8-606A-CF8D-C79A60364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369"/>
            <a:ext cx="9143999" cy="118196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26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4" y="-3980833"/>
            <a:ext cx="1182335" cy="9144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69075" y="739"/>
            <a:ext cx="3227567" cy="1181596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17765F60-8025-D6D6-43B8-F7A1BDCB5522}"/>
              </a:ext>
            </a:extLst>
          </p:cNvPr>
          <p:cNvSpPr/>
          <p:nvPr/>
        </p:nvSpPr>
        <p:spPr>
          <a:xfrm>
            <a:off x="524785" y="264870"/>
            <a:ext cx="5318475" cy="6739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Análisis Exploratorio de Datos (EDA)</a:t>
            </a:r>
          </a:p>
        </p:txBody>
      </p:sp>
      <p:pic>
        <p:nvPicPr>
          <p:cNvPr id="7" name="Imagen 6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C75CD0C1-F491-12A7-79CF-2C455AAFB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8069" y="1978074"/>
            <a:ext cx="3848316" cy="1154495"/>
          </a:xfrm>
          <a:prstGeom prst="rect">
            <a:avLst/>
          </a:prstGeom>
        </p:spPr>
      </p:pic>
      <p:pic>
        <p:nvPicPr>
          <p:cNvPr id="5" name="Imagen 4" descr="Gráfico&#10;&#10;El contenido generado por IA puede ser incorrecto.">
            <a:extLst>
              <a:ext uri="{FF2B5EF4-FFF2-40B4-BE49-F238E27FC236}">
                <a16:creationId xmlns:a16="http://schemas.microsoft.com/office/drawing/2014/main" id="{2BFA9D38-8985-00EE-A21C-FADB7F7F0D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298" y="1863741"/>
            <a:ext cx="3848316" cy="2597613"/>
          </a:xfrm>
          <a:prstGeom prst="rect">
            <a:avLst/>
          </a:prstGeom>
        </p:spPr>
      </p:pic>
      <p:sp>
        <p:nvSpPr>
          <p:cNvPr id="8" name="Text 1">
            <a:extLst>
              <a:ext uri="{FF2B5EF4-FFF2-40B4-BE49-F238E27FC236}">
                <a16:creationId xmlns:a16="http://schemas.microsoft.com/office/drawing/2014/main" id="{642BCEBF-EB8B-E413-414E-BF4002629B41}"/>
              </a:ext>
            </a:extLst>
          </p:cNvPr>
          <p:cNvSpPr/>
          <p:nvPr/>
        </p:nvSpPr>
        <p:spPr>
          <a:xfrm>
            <a:off x="4920912" y="3404839"/>
            <a:ext cx="3646835" cy="12418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Se </a:t>
            </a:r>
            <a:r>
              <a:rPr lang="en-US" sz="1400" dirty="0" err="1"/>
              <a:t>observan</a:t>
            </a:r>
            <a:r>
              <a:rPr lang="en-US" sz="1400" dirty="0"/>
              <a:t> </a:t>
            </a:r>
            <a:r>
              <a:rPr lang="en-US" sz="1400" dirty="0" err="1"/>
              <a:t>tres</a:t>
            </a:r>
            <a:r>
              <a:rPr lang="en-US" sz="1400" dirty="0"/>
              <a:t> variables </a:t>
            </a:r>
            <a:r>
              <a:rPr lang="en-US" sz="1400" dirty="0" err="1"/>
              <a:t>que</a:t>
            </a:r>
            <a:r>
              <a:rPr lang="en-US" sz="1400" dirty="0"/>
              <a:t> </a:t>
            </a:r>
            <a:r>
              <a:rPr lang="en-US" sz="1400" dirty="0" err="1"/>
              <a:t>resaltan</a:t>
            </a:r>
            <a:r>
              <a:rPr lang="en-US" sz="1400" dirty="0"/>
              <a:t> con </a:t>
            </a:r>
            <a:r>
              <a:rPr lang="en-US" sz="1400" dirty="0" err="1"/>
              <a:t>univariadas</a:t>
            </a:r>
            <a:r>
              <a:rPr lang="en-US" sz="1400" dirty="0"/>
              <a:t> no </a:t>
            </a:r>
            <a:r>
              <a:rPr lang="en-US" sz="1400" dirty="0" err="1"/>
              <a:t>lineales</a:t>
            </a:r>
            <a:r>
              <a:rPr lang="en-US" sz="1400" dirty="0"/>
              <a:t> </a:t>
            </a:r>
            <a:r>
              <a:rPr lang="en-US" sz="1400" dirty="0" err="1"/>
              <a:t>muy</a:t>
            </a:r>
            <a:r>
              <a:rPr lang="en-US" sz="1400" dirty="0"/>
              <a:t> </a:t>
            </a:r>
            <a:r>
              <a:rPr lang="en-US" sz="1400" dirty="0" err="1"/>
              <a:t>débiles</a:t>
            </a:r>
            <a:r>
              <a:rPr lang="en-US" sz="1400" dirty="0"/>
              <a:t>. </a:t>
            </a:r>
            <a:r>
              <a:rPr lang="en-US" sz="1400" dirty="0" err="1"/>
              <a:t>correlaciones</a:t>
            </a:r>
            <a:r>
              <a:rPr lang="en-US" sz="1400" dirty="0"/>
              <a:t> Esto </a:t>
            </a:r>
            <a:r>
              <a:rPr lang="en-US" sz="1400" dirty="0" err="1"/>
              <a:t>seberá</a:t>
            </a:r>
            <a:r>
              <a:rPr lang="en-US" sz="1400" dirty="0"/>
              <a:t> ser </a:t>
            </a:r>
            <a:r>
              <a:rPr lang="en-US" sz="1400" dirty="0" err="1"/>
              <a:t>confirmadfo</a:t>
            </a:r>
            <a:r>
              <a:rPr lang="en-US" sz="1400" dirty="0"/>
              <a:t> con </a:t>
            </a:r>
            <a:r>
              <a:rPr lang="en-US" sz="1400" dirty="0" err="1"/>
              <a:t>análisis</a:t>
            </a:r>
            <a:r>
              <a:rPr lang="en-US" sz="1400" dirty="0"/>
              <a:t> </a:t>
            </a:r>
            <a:r>
              <a:rPr lang="en-US" sz="1400" dirty="0" err="1"/>
              <a:t>estadisticos</a:t>
            </a:r>
            <a:r>
              <a:rPr lang="en-US" sz="1400" dirty="0"/>
              <a:t> </a:t>
            </a:r>
            <a:r>
              <a:rPr lang="en-US" sz="1400" dirty="0" err="1"/>
              <a:t>más</a:t>
            </a:r>
            <a:r>
              <a:rPr lang="en-US" sz="1400" dirty="0"/>
              <a:t> </a:t>
            </a:r>
            <a:r>
              <a:rPr lang="en-US" sz="1400" dirty="0" err="1"/>
              <a:t>avanzados</a:t>
            </a:r>
            <a:r>
              <a:rPr lang="en-US" sz="1400" dirty="0"/>
              <a:t>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sz="1400" dirty="0"/>
            </a:b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19301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181595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9144001" cy="118073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24784" y="186028"/>
            <a:ext cx="5297791" cy="869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Ingeniería de </a:t>
            </a:r>
            <a:r>
              <a:rPr lang="en-US" sz="28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Características</a:t>
            </a:r>
            <a:r>
              <a:rPr lang="en-US" sz="2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y </a:t>
            </a:r>
            <a:r>
              <a:rPr lang="en-US" sz="28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Selección</a:t>
            </a:r>
            <a:r>
              <a:rPr lang="en-US" sz="2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Variables</a:t>
            </a:r>
          </a:p>
        </p:txBody>
      </p:sp>
      <p:pic>
        <p:nvPicPr>
          <p:cNvPr id="12" name="Imagen 11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B1CF8499-4F27-4919-ADF3-065AF8A12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860" y="1474719"/>
            <a:ext cx="4980285" cy="3339120"/>
          </a:xfrm>
          <a:prstGeom prst="rect">
            <a:avLst/>
          </a:prstGeom>
        </p:spPr>
      </p:pic>
      <p:sp>
        <p:nvSpPr>
          <p:cNvPr id="13" name="Text 1">
            <a:extLst>
              <a:ext uri="{FF2B5EF4-FFF2-40B4-BE49-F238E27FC236}">
                <a16:creationId xmlns:a16="http://schemas.microsoft.com/office/drawing/2014/main" id="{A4DBB7DB-3FC9-397A-C681-EC382CE6F19D}"/>
              </a:ext>
            </a:extLst>
          </p:cNvPr>
          <p:cNvSpPr/>
          <p:nvPr/>
        </p:nvSpPr>
        <p:spPr>
          <a:xfrm>
            <a:off x="5476675" y="2571750"/>
            <a:ext cx="3646835" cy="12418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US" sz="1300" dirty="0"/>
              <a:t>El </a:t>
            </a:r>
            <a:r>
              <a:rPr lang="en-US" sz="1300" dirty="0" err="1"/>
              <a:t>análisis</a:t>
            </a:r>
            <a:r>
              <a:rPr lang="en-US" sz="1300" dirty="0"/>
              <a:t> de </a:t>
            </a:r>
            <a:r>
              <a:rPr lang="en-US" sz="1300" dirty="0" err="1"/>
              <a:t>permutación</a:t>
            </a:r>
            <a:r>
              <a:rPr lang="en-US" sz="1300" dirty="0"/>
              <a:t> </a:t>
            </a:r>
            <a:r>
              <a:rPr lang="en-US" sz="1300" dirty="0" err="1"/>
              <a:t>evidencia</a:t>
            </a:r>
            <a:r>
              <a:rPr lang="en-US" sz="1300" dirty="0"/>
              <a:t> </a:t>
            </a:r>
            <a:r>
              <a:rPr lang="en-US" sz="1300" dirty="0" err="1"/>
              <a:t>que</a:t>
            </a:r>
            <a:r>
              <a:rPr lang="en-US" sz="1300" dirty="0"/>
              <a:t> 3 de las variables </a:t>
            </a:r>
            <a:r>
              <a:rPr lang="en-US" sz="1300" dirty="0" err="1"/>
              <a:t>efectivamente</a:t>
            </a:r>
            <a:r>
              <a:rPr lang="en-US" sz="1300" dirty="0"/>
              <a:t> </a:t>
            </a:r>
            <a:r>
              <a:rPr lang="en-US" sz="1300" dirty="0" err="1"/>
              <a:t>poseen</a:t>
            </a:r>
            <a:r>
              <a:rPr lang="en-US" sz="1300" dirty="0"/>
              <a:t> un valor </a:t>
            </a:r>
            <a:r>
              <a:rPr lang="en-US" sz="1300" dirty="0" err="1"/>
              <a:t>explicativo</a:t>
            </a:r>
            <a:r>
              <a:rPr lang="en-US" sz="1300" dirty="0"/>
              <a:t> </a:t>
            </a:r>
            <a:r>
              <a:rPr lang="en-US" sz="1300" dirty="0" err="1"/>
              <a:t>en</a:t>
            </a:r>
            <a:r>
              <a:rPr lang="en-US" sz="1300" dirty="0"/>
              <a:t> la </a:t>
            </a:r>
            <a:r>
              <a:rPr lang="en-US" sz="1300" dirty="0" err="1"/>
              <a:t>capacidad</a:t>
            </a:r>
            <a:r>
              <a:rPr lang="en-US" sz="1300" dirty="0"/>
              <a:t> de </a:t>
            </a:r>
            <a:r>
              <a:rPr lang="en-US" sz="1300" dirty="0" err="1"/>
              <a:t>predecir</a:t>
            </a:r>
            <a:r>
              <a:rPr lang="en-US" sz="1300" dirty="0"/>
              <a:t> un </a:t>
            </a:r>
            <a:r>
              <a:rPr lang="en-US" sz="1300" dirty="0" err="1"/>
              <a:t>reclamo</a:t>
            </a:r>
            <a:r>
              <a:rPr lang="en-US" sz="1300" dirty="0"/>
              <a:t>, </a:t>
            </a:r>
            <a:r>
              <a:rPr lang="en-US" sz="1300" dirty="0" err="1"/>
              <a:t>aunque</a:t>
            </a:r>
            <a:r>
              <a:rPr lang="en-US" sz="1300" dirty="0"/>
              <a:t> </a:t>
            </a:r>
            <a:r>
              <a:rPr lang="en-US" sz="1300" dirty="0" err="1"/>
              <a:t>este</a:t>
            </a:r>
            <a:r>
              <a:rPr lang="en-US" sz="1300" dirty="0"/>
              <a:t> paso no </a:t>
            </a:r>
            <a:r>
              <a:rPr lang="en-US" sz="1300" dirty="0" err="1"/>
              <a:t>establece</a:t>
            </a:r>
            <a:r>
              <a:rPr lang="en-US" sz="1300" dirty="0"/>
              <a:t> </a:t>
            </a:r>
            <a:r>
              <a:rPr lang="en-US" sz="1300" dirty="0" err="1"/>
              <a:t>su</a:t>
            </a:r>
            <a:r>
              <a:rPr lang="en-US" sz="1300" dirty="0"/>
              <a:t> </a:t>
            </a:r>
            <a:r>
              <a:rPr lang="en-US" sz="1300" dirty="0" err="1"/>
              <a:t>desempeño</a:t>
            </a:r>
            <a:r>
              <a:rPr lang="en-US" sz="1300" dirty="0"/>
              <a:t> </a:t>
            </a:r>
            <a:r>
              <a:rPr lang="en-US" sz="1300" dirty="0" err="1"/>
              <a:t>predictivo</a:t>
            </a:r>
            <a:r>
              <a:rPr lang="en-US" sz="1300" dirty="0"/>
              <a:t>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sz="1400" dirty="0"/>
            </a:b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4BE6A5-AA2C-68C1-F8CB-67573B226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67B6B87-456B-59A1-2E52-AC50ADDC2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3721ED0-190D-C686-E575-A041C86C8B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54D181D-EEFF-0CD6-1AEC-553464640B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181595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7074BE7-57C9-C592-0B00-246C3EB91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9144001" cy="118073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82A6346-9F9F-935D-EFD4-DAF067F8EF0D}"/>
              </a:ext>
            </a:extLst>
          </p:cNvPr>
          <p:cNvSpPr/>
          <p:nvPr/>
        </p:nvSpPr>
        <p:spPr>
          <a:xfrm>
            <a:off x="524784" y="186028"/>
            <a:ext cx="5297791" cy="869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Resultados</a:t>
            </a:r>
            <a:r>
              <a:rPr lang="en-US" sz="2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del </a:t>
            </a:r>
            <a:r>
              <a:rPr lang="en-US" sz="28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modelado</a:t>
            </a:r>
            <a:endParaRPr lang="en-US" sz="28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36FB7DE3-9173-5D2B-F5EE-C4C9905F301D}"/>
              </a:ext>
            </a:extLst>
          </p:cNvPr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s-CO" sz="3600" b="1" dirty="0">
              <a:solidFill>
                <a:srgbClr val="38BDF8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20D46B2-4E90-F7A4-1D3C-A62C89F642BD}"/>
              </a:ext>
            </a:extLst>
          </p:cNvPr>
          <p:cNvSpPr/>
          <p:nvPr/>
        </p:nvSpPr>
        <p:spPr>
          <a:xfrm>
            <a:off x="609600" y="1249561"/>
            <a:ext cx="7620000" cy="91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CO" dirty="0"/>
              <a:t>Modelos Evaluados: </a:t>
            </a:r>
            <a:r>
              <a:rPr lang="es-CO" dirty="0" err="1"/>
              <a:t>BalancedRandomForest</a:t>
            </a:r>
            <a:r>
              <a:rPr lang="es-CO" dirty="0"/>
              <a:t> , </a:t>
            </a:r>
            <a:r>
              <a:rPr lang="es-CO" dirty="0" err="1"/>
              <a:t>EasyEnsembleClassifier</a:t>
            </a:r>
            <a:r>
              <a:rPr lang="es-CO" dirty="0"/>
              <a:t> y </a:t>
            </a:r>
            <a:r>
              <a:rPr lang="es-CO" dirty="0" err="1"/>
              <a:t>GradientBoostingClassifier</a:t>
            </a:r>
            <a:r>
              <a:rPr lang="es-CO" dirty="0"/>
              <a:t>.</a:t>
            </a:r>
          </a:p>
          <a:p>
            <a:endParaRPr lang="es-CO" dirty="0">
              <a:solidFill>
                <a:schemeClr val="bg1"/>
              </a:solidFill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61FF549B-51E1-908B-33EB-4E1A1C960A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4283493"/>
              </p:ext>
            </p:extLst>
          </p:nvPr>
        </p:nvGraphicFramePr>
        <p:xfrm>
          <a:off x="609600" y="2147132"/>
          <a:ext cx="7924797" cy="157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9257">
                  <a:extLst>
                    <a:ext uri="{9D8B030D-6E8A-4147-A177-3AD203B41FA5}">
                      <a16:colId xmlns:a16="http://schemas.microsoft.com/office/drawing/2014/main" val="1225069427"/>
                    </a:ext>
                  </a:extLst>
                </a:gridCol>
                <a:gridCol w="846874">
                  <a:extLst>
                    <a:ext uri="{9D8B030D-6E8A-4147-A177-3AD203B41FA5}">
                      <a16:colId xmlns:a16="http://schemas.microsoft.com/office/drawing/2014/main" val="3882576872"/>
                    </a:ext>
                  </a:extLst>
                </a:gridCol>
                <a:gridCol w="881238">
                  <a:extLst>
                    <a:ext uri="{9D8B030D-6E8A-4147-A177-3AD203B41FA5}">
                      <a16:colId xmlns:a16="http://schemas.microsoft.com/office/drawing/2014/main" val="2272634004"/>
                    </a:ext>
                  </a:extLst>
                </a:gridCol>
                <a:gridCol w="881238">
                  <a:extLst>
                    <a:ext uri="{9D8B030D-6E8A-4147-A177-3AD203B41FA5}">
                      <a16:colId xmlns:a16="http://schemas.microsoft.com/office/drawing/2014/main" val="3809968524"/>
                    </a:ext>
                  </a:extLst>
                </a:gridCol>
                <a:gridCol w="881238">
                  <a:extLst>
                    <a:ext uri="{9D8B030D-6E8A-4147-A177-3AD203B41FA5}">
                      <a16:colId xmlns:a16="http://schemas.microsoft.com/office/drawing/2014/main" val="1195725274"/>
                    </a:ext>
                  </a:extLst>
                </a:gridCol>
                <a:gridCol w="881238">
                  <a:extLst>
                    <a:ext uri="{9D8B030D-6E8A-4147-A177-3AD203B41FA5}">
                      <a16:colId xmlns:a16="http://schemas.microsoft.com/office/drawing/2014/main" val="1005142588"/>
                    </a:ext>
                  </a:extLst>
                </a:gridCol>
                <a:gridCol w="881238">
                  <a:extLst>
                    <a:ext uri="{9D8B030D-6E8A-4147-A177-3AD203B41FA5}">
                      <a16:colId xmlns:a16="http://schemas.microsoft.com/office/drawing/2014/main" val="1987300143"/>
                    </a:ext>
                  </a:extLst>
                </a:gridCol>
                <a:gridCol w="881238">
                  <a:extLst>
                    <a:ext uri="{9D8B030D-6E8A-4147-A177-3AD203B41FA5}">
                      <a16:colId xmlns:a16="http://schemas.microsoft.com/office/drawing/2014/main" val="4117070356"/>
                    </a:ext>
                  </a:extLst>
                </a:gridCol>
                <a:gridCol w="881238">
                  <a:extLst>
                    <a:ext uri="{9D8B030D-6E8A-4147-A177-3AD203B41FA5}">
                      <a16:colId xmlns:a16="http://schemas.microsoft.com/office/drawing/2014/main" val="10773587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50" b="1" dirty="0">
                          <a:effectLst/>
                        </a:rPr>
                        <a:t>modelo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50" b="1" dirty="0" err="1">
                          <a:effectLst/>
                        </a:rPr>
                        <a:t>roc_auc_mean</a:t>
                      </a:r>
                      <a:endParaRPr lang="es-CO" sz="1050" b="1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50" b="1" dirty="0" err="1">
                          <a:effectLst/>
                        </a:rPr>
                        <a:t>roc_auc_std</a:t>
                      </a:r>
                      <a:endParaRPr lang="es-CO" sz="1050" b="1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50" b="1" dirty="0" err="1">
                          <a:effectLst/>
                        </a:rPr>
                        <a:t>ap_mean</a:t>
                      </a:r>
                      <a:endParaRPr lang="es-CO" sz="1050" b="1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50" b="1" dirty="0" err="1">
                          <a:effectLst/>
                        </a:rPr>
                        <a:t>ap_std</a:t>
                      </a:r>
                      <a:endParaRPr lang="es-CO" sz="1050" b="1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50" b="1" dirty="0">
                          <a:effectLst/>
                        </a:rPr>
                        <a:t>f1_mean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50" b="1" dirty="0">
                          <a:effectLst/>
                        </a:rPr>
                        <a:t>f1_std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50" b="1" dirty="0" err="1">
                          <a:effectLst/>
                        </a:rPr>
                        <a:t>recall_mean</a:t>
                      </a:r>
                      <a:endParaRPr lang="es-CO" sz="1050" b="1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50" b="1" dirty="0" err="1">
                          <a:effectLst/>
                        </a:rPr>
                        <a:t>recall_std</a:t>
                      </a:r>
                      <a:endParaRPr lang="es-CO" sz="1050" b="1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4298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 dirty="0" err="1">
                          <a:effectLst/>
                        </a:rPr>
                        <a:t>Gradient</a:t>
                      </a:r>
                      <a:r>
                        <a:rPr lang="es-CO" sz="1000" dirty="0">
                          <a:effectLst/>
                        </a:rPr>
                        <a:t>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 dirty="0">
                          <a:effectLst/>
                        </a:rPr>
                        <a:t>0.641549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 dirty="0">
                          <a:effectLst/>
                        </a:rPr>
                        <a:t>0.008424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 dirty="0">
                          <a:effectLst/>
                        </a:rPr>
                        <a:t>0.096907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 dirty="0">
                          <a:effectLst/>
                        </a:rPr>
                        <a:t>0.002043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 dirty="0">
                          <a:effectLst/>
                        </a:rPr>
                        <a:t>0.000000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 dirty="0">
                          <a:effectLst/>
                        </a:rPr>
                        <a:t>0.000000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 dirty="0">
                          <a:effectLst/>
                        </a:rPr>
                        <a:t>0.000000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 dirty="0">
                          <a:effectLst/>
                        </a:rPr>
                        <a:t>0.00000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1408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 dirty="0" err="1">
                          <a:effectLst/>
                        </a:rPr>
                        <a:t>EasyEnsemble</a:t>
                      </a:r>
                      <a:endParaRPr lang="es-CO" sz="10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 dirty="0">
                          <a:effectLst/>
                        </a:rPr>
                        <a:t>0.630648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 dirty="0">
                          <a:effectLst/>
                        </a:rPr>
                        <a:t>0.007092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 dirty="0">
                          <a:effectLst/>
                        </a:rPr>
                        <a:t>0.092567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 dirty="0">
                          <a:effectLst/>
                        </a:rPr>
                        <a:t>0.002435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 dirty="0">
                          <a:effectLst/>
                        </a:rPr>
                        <a:t>0.152843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 dirty="0">
                          <a:effectLst/>
                        </a:rPr>
                        <a:t>0.002289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 dirty="0">
                          <a:effectLst/>
                        </a:rPr>
                        <a:t>0.715327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 dirty="0">
                          <a:effectLst/>
                        </a:rPr>
                        <a:t>0.024782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5068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 dirty="0" err="1">
                          <a:effectLst/>
                        </a:rPr>
                        <a:t>BalanceRandom</a:t>
                      </a:r>
                      <a:endParaRPr lang="es-CO" sz="10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 dirty="0">
                          <a:effectLst/>
                        </a:rPr>
                        <a:t>0.601840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 dirty="0">
                          <a:effectLst/>
                        </a:rPr>
                        <a:t>0.003752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 dirty="0">
                          <a:effectLst/>
                        </a:rPr>
                        <a:t>0.083729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 dirty="0">
                          <a:effectLst/>
                        </a:rPr>
                        <a:t>0.001381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 dirty="0">
                          <a:effectLst/>
                        </a:rPr>
                        <a:t>0.138427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 dirty="0">
                          <a:effectLst/>
                        </a:rPr>
                        <a:t>0.003761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 dirty="0">
                          <a:effectLst/>
                        </a:rPr>
                        <a:t>0.340711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 dirty="0">
                          <a:effectLst/>
                        </a:rPr>
                        <a:t>0.009330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64381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4256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F531EB-C72F-D70C-CF99-907C089BD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0B3741D-75E5-26E7-FBAF-BA656FE7CD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D0F7A8A-2D20-B021-11BD-37189EC92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0E66C0-21BA-C47C-8B57-753F45DE4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181595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FCAB40C-FF0E-FAFF-FF23-BFD2F8810C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9144001" cy="118073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0483E98-156F-8174-0B5F-25232BA74E2A}"/>
              </a:ext>
            </a:extLst>
          </p:cNvPr>
          <p:cNvSpPr/>
          <p:nvPr/>
        </p:nvSpPr>
        <p:spPr>
          <a:xfrm>
            <a:off x="524784" y="186028"/>
            <a:ext cx="5297791" cy="869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Resultados</a:t>
            </a:r>
            <a:r>
              <a:rPr lang="en-US" sz="2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del </a:t>
            </a:r>
            <a:r>
              <a:rPr lang="en-US" sz="28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modelado</a:t>
            </a:r>
            <a:endParaRPr lang="en-US" sz="28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9A4448F3-9364-1303-7DD8-162407DC235E}"/>
              </a:ext>
            </a:extLst>
          </p:cNvPr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s-CO" sz="3600" b="1" dirty="0">
              <a:solidFill>
                <a:srgbClr val="38BDF8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B3ABFF6-27DB-9DFE-85FD-D1AC9ED1BAA0}"/>
              </a:ext>
            </a:extLst>
          </p:cNvPr>
          <p:cNvSpPr/>
          <p:nvPr/>
        </p:nvSpPr>
        <p:spPr>
          <a:xfrm>
            <a:off x="609600" y="1249561"/>
            <a:ext cx="7620000" cy="540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CO" dirty="0"/>
              <a:t>Modelos Seleccionado:  </a:t>
            </a:r>
            <a:r>
              <a:rPr lang="es-CO" dirty="0" err="1"/>
              <a:t>EasyEnsembleClassifier</a:t>
            </a:r>
            <a:r>
              <a:rPr lang="es-CO" dirty="0"/>
              <a:t>.</a:t>
            </a:r>
          </a:p>
          <a:p>
            <a:endParaRPr lang="es-CO" dirty="0">
              <a:solidFill>
                <a:schemeClr val="bg1"/>
              </a:solidFill>
            </a:endParaRPr>
          </a:p>
        </p:txBody>
      </p:sp>
      <p:pic>
        <p:nvPicPr>
          <p:cNvPr id="9" name="Imagen 8" descr="Interfaz de usuario gráfica, Gráfico&#10;&#10;El contenido generado por IA puede ser incorrecto.">
            <a:extLst>
              <a:ext uri="{FF2B5EF4-FFF2-40B4-BE49-F238E27FC236}">
                <a16:creationId xmlns:a16="http://schemas.microsoft.com/office/drawing/2014/main" id="{A2408139-29E3-715E-3C2D-60BDF72A8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78" y="1790332"/>
            <a:ext cx="8809463" cy="3164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285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E72589-73D6-0C3F-4B06-B8F4DC8C9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38F40D9-FA65-A66D-46FC-0D670A143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6B844C-323C-BD8C-B5B3-15DF8A6CF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4189B92-A1D6-9805-AD19-C59DEB790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181595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C546287-F3F9-C05F-35A8-1D82E0C82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9144001" cy="118073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21A1EE6-4F0F-C44F-6D72-2716DA1BEB7A}"/>
              </a:ext>
            </a:extLst>
          </p:cNvPr>
          <p:cNvSpPr/>
          <p:nvPr/>
        </p:nvSpPr>
        <p:spPr>
          <a:xfrm>
            <a:off x="524784" y="186028"/>
            <a:ext cx="5297791" cy="869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Resultados</a:t>
            </a:r>
            <a:r>
              <a:rPr lang="en-US" sz="2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del </a:t>
            </a:r>
            <a:r>
              <a:rPr lang="en-US" sz="28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modelado</a:t>
            </a:r>
            <a:endParaRPr lang="en-US" sz="28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8144B81F-5CD8-B04F-6878-D1A916FE472F}"/>
              </a:ext>
            </a:extLst>
          </p:cNvPr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s-CO" sz="3600" b="1" dirty="0">
              <a:solidFill>
                <a:srgbClr val="38BDF8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BA0D698-972C-B5FE-43C5-E5FE66C4ED43}"/>
              </a:ext>
            </a:extLst>
          </p:cNvPr>
          <p:cNvSpPr/>
          <p:nvPr/>
        </p:nvSpPr>
        <p:spPr>
          <a:xfrm>
            <a:off x="609600" y="1249561"/>
            <a:ext cx="7620000" cy="540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CO" dirty="0"/>
              <a:t>Modelos Seleccionado:  </a:t>
            </a:r>
            <a:r>
              <a:rPr lang="es-CO" dirty="0" err="1"/>
              <a:t>EasyEnsembleClassifier</a:t>
            </a:r>
            <a:r>
              <a:rPr lang="es-CO" dirty="0"/>
              <a:t>.</a:t>
            </a:r>
          </a:p>
          <a:p>
            <a:endParaRPr lang="es-CO" dirty="0">
              <a:solidFill>
                <a:schemeClr val="bg1"/>
              </a:solidFill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F993F470-3285-84C9-3AB9-C37AA74C50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6976751"/>
              </p:ext>
            </p:extLst>
          </p:nvPr>
        </p:nvGraphicFramePr>
        <p:xfrm>
          <a:off x="524784" y="2019116"/>
          <a:ext cx="3962400" cy="2286000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126420633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248650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1210391806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6414137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s-CO" sz="1000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 b="1" dirty="0">
                          <a:effectLst/>
                        </a:rPr>
                        <a:t>Realidad: Siniestro (1)</a:t>
                      </a:r>
                      <a:endParaRPr lang="es-CO" sz="1000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 b="1" dirty="0">
                          <a:effectLst/>
                        </a:rPr>
                        <a:t>Realidad: No Siniestro (0)</a:t>
                      </a:r>
                      <a:endParaRPr lang="es-CO" sz="1000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 b="1" dirty="0">
                          <a:effectLst/>
                        </a:rPr>
                        <a:t>Total Predicho</a:t>
                      </a:r>
                      <a:endParaRPr lang="es-CO" sz="1000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4262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 b="1" dirty="0">
                          <a:effectLst/>
                        </a:rPr>
                        <a:t>Predicho: Siniestro (1)</a:t>
                      </a:r>
                      <a:br>
                        <a:rPr lang="es-CO" sz="1000" dirty="0">
                          <a:effectLst/>
                        </a:rPr>
                      </a:br>
                      <a:r>
                        <a:rPr lang="es-CO" sz="1000" i="1" dirty="0">
                          <a:effectLst/>
                        </a:rPr>
                        <a:t>(Top 20% Riesgo)</a:t>
                      </a:r>
                      <a:endParaRPr lang="es-CO" sz="1000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1000" b="1" dirty="0">
                          <a:effectLst/>
                        </a:rPr>
                        <a:t>1,164</a:t>
                      </a:r>
                      <a:br>
                        <a:rPr lang="es-CO" sz="1000" dirty="0">
                          <a:effectLst/>
                        </a:rPr>
                      </a:br>
                      <a:r>
                        <a:rPr lang="es-CO" sz="1000" i="1" dirty="0">
                          <a:effectLst/>
                        </a:rPr>
                        <a:t>(True Positives)</a:t>
                      </a:r>
                      <a:endParaRPr lang="es-CO" sz="1000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1000" b="1">
                          <a:effectLst/>
                        </a:rPr>
                        <a:t>10,555</a:t>
                      </a:r>
                      <a:br>
                        <a:rPr lang="es-CO" sz="1000">
                          <a:effectLst/>
                        </a:rPr>
                      </a:br>
                      <a:r>
                        <a:rPr lang="es-CO" sz="1000" i="1">
                          <a:effectLst/>
                        </a:rPr>
                        <a:t>(False Positives)</a:t>
                      </a:r>
                      <a:endParaRPr lang="es-CO" sz="100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1000" b="1">
                          <a:effectLst/>
                        </a:rPr>
                        <a:t>11,719</a:t>
                      </a:r>
                      <a:br>
                        <a:rPr lang="es-CO" sz="1000">
                          <a:effectLst/>
                        </a:rPr>
                      </a:br>
                      <a:r>
                        <a:rPr lang="es-CO" sz="1000" i="1">
                          <a:effectLst/>
                        </a:rPr>
                        <a:t>(Volumen de Alertas)</a:t>
                      </a:r>
                      <a:endParaRPr lang="es-CO" sz="100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6971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 b="1" dirty="0">
                          <a:effectLst/>
                        </a:rPr>
                        <a:t>Predicho: No Siniestro (0)</a:t>
                      </a:r>
                      <a:br>
                        <a:rPr lang="es-CO" sz="1000" dirty="0">
                          <a:effectLst/>
                        </a:rPr>
                      </a:br>
                      <a:r>
                        <a:rPr lang="es-CO" sz="1000" i="1" dirty="0">
                          <a:effectLst/>
                        </a:rPr>
                        <a:t>(Resto de la Base)</a:t>
                      </a:r>
                      <a:endParaRPr lang="es-CO" sz="1000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1000" b="1" dirty="0">
                          <a:effectLst/>
                        </a:rPr>
                        <a:t>2,584</a:t>
                      </a:r>
                      <a:br>
                        <a:rPr lang="es-CO" sz="1000" dirty="0">
                          <a:effectLst/>
                        </a:rPr>
                      </a:br>
                      <a:r>
                        <a:rPr lang="es-CO" sz="1000" i="1" dirty="0">
                          <a:effectLst/>
                        </a:rPr>
                        <a:t>(False Negatives)</a:t>
                      </a:r>
                      <a:endParaRPr lang="es-CO" sz="1000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1000" b="1" dirty="0">
                          <a:effectLst/>
                        </a:rPr>
                        <a:t>44,289</a:t>
                      </a:r>
                      <a:br>
                        <a:rPr lang="es-CO" sz="1000" dirty="0">
                          <a:effectLst/>
                        </a:rPr>
                      </a:br>
                      <a:r>
                        <a:rPr lang="es-CO" sz="1000" i="1" dirty="0">
                          <a:effectLst/>
                        </a:rPr>
                        <a:t>(True Negatives)</a:t>
                      </a:r>
                      <a:endParaRPr lang="es-CO" sz="1000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1000" b="1" dirty="0">
                          <a:effectLst/>
                        </a:rPr>
                        <a:t>46,873</a:t>
                      </a:r>
                      <a:endParaRPr lang="es-CO" sz="1000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7082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 b="1" dirty="0">
                          <a:effectLst/>
                        </a:rPr>
                        <a:t>Total Real</a:t>
                      </a:r>
                      <a:endParaRPr lang="es-CO" sz="1000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1000" b="1" dirty="0">
                          <a:effectLst/>
                        </a:rPr>
                        <a:t>3,748</a:t>
                      </a:r>
                      <a:endParaRPr lang="es-CO" sz="1000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1000" b="1" dirty="0">
                          <a:effectLst/>
                        </a:rPr>
                        <a:t>54,844</a:t>
                      </a:r>
                      <a:endParaRPr lang="es-CO" sz="1000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O" sz="1000" b="1" dirty="0">
                          <a:effectLst/>
                        </a:rPr>
                        <a:t>58,592</a:t>
                      </a:r>
                      <a:endParaRPr lang="es-CO" sz="1000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2730859"/>
                  </a:ext>
                </a:extLst>
              </a:tr>
            </a:tbl>
          </a:graphicData>
        </a:graphic>
      </p:graphicFrame>
      <p:sp>
        <p:nvSpPr>
          <p:cNvPr id="6" name="Text 1">
            <a:extLst>
              <a:ext uri="{FF2B5EF4-FFF2-40B4-BE49-F238E27FC236}">
                <a16:creationId xmlns:a16="http://schemas.microsoft.com/office/drawing/2014/main" id="{542AFF2E-5516-5D7E-5F90-C21BF6E5C03F}"/>
              </a:ext>
            </a:extLst>
          </p:cNvPr>
          <p:cNvSpPr/>
          <p:nvPr/>
        </p:nvSpPr>
        <p:spPr>
          <a:xfrm>
            <a:off x="4906089" y="1665028"/>
            <a:ext cx="3646835" cy="30971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s-CO" sz="1200" dirty="0"/>
              <a:t>(</a:t>
            </a:r>
            <a:r>
              <a:rPr lang="es-CO" sz="1200" dirty="0" err="1"/>
              <a:t>Precision</a:t>
            </a:r>
            <a:r>
              <a:rPr lang="es-CO" sz="1200" dirty="0"/>
              <a:t> 9.9%): Este modelo desplegado en el Top 20%, generará 11,719 alertas. De esas, 10,555 son Falsos Positivos. Esto significa que por cada siniestro real que se identifica, el equipo operativo tendrá que investigar inútilmente a 9 clientes legítimos.</a:t>
            </a:r>
            <a:br>
              <a:rPr lang="en-US" sz="1200" dirty="0"/>
            </a:br>
            <a:endParaRPr lang="en-US" sz="1200" dirty="0"/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s-CO" sz="1200" dirty="0" err="1"/>
              <a:t>Recall</a:t>
            </a:r>
            <a:r>
              <a:rPr lang="es-CO" sz="1200" dirty="0"/>
              <a:t> 31%: El modelo captura 31% de el total de siniestros en este top 20, la preocupación continua centrada en los falsos positivos.</a:t>
            </a:r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endParaRPr lang="es-CO" sz="1200" dirty="0"/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s-CO" sz="800" i="1" dirty="0"/>
              <a:t>Calculaos de precisión y </a:t>
            </a:r>
            <a:r>
              <a:rPr lang="es-CO" sz="800" i="1" dirty="0" err="1"/>
              <a:t>recal</a:t>
            </a:r>
            <a:r>
              <a:rPr lang="es-CO" sz="800" i="1" dirty="0"/>
              <a:t> de @ k realizados a partir de la tabla de </a:t>
            </a:r>
            <a:r>
              <a:rPr lang="es-CO" sz="800" i="1" dirty="0" err="1"/>
              <a:t>lift</a:t>
            </a:r>
            <a:endParaRPr lang="en-US" sz="500" i="1" dirty="0"/>
          </a:p>
        </p:txBody>
      </p:sp>
    </p:spTree>
    <p:extLst>
      <p:ext uri="{BB962C8B-B14F-4D97-AF65-F5344CB8AC3E}">
        <p14:creationId xmlns:p14="http://schemas.microsoft.com/office/powerpoint/2010/main" val="289815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9B6795-B9E8-C668-75B5-E1E29E37D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E202F29-F5C6-7366-D254-0EF8400AB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4DEDC6-83DB-A9B8-536A-E9EC26227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A01D08-C86B-78B4-A0CC-DFB0DBB2A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181595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C7A058-368F-D654-B773-EF1E57E38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9144001" cy="118073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0849B7C-0FA8-19C5-CD1E-7B02122AF4D3}"/>
              </a:ext>
            </a:extLst>
          </p:cNvPr>
          <p:cNvSpPr/>
          <p:nvPr/>
        </p:nvSpPr>
        <p:spPr>
          <a:xfrm>
            <a:off x="524784" y="186028"/>
            <a:ext cx="5297791" cy="869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CO" sz="2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Arquitectura Hipotética en AWS</a:t>
            </a: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77366757-8439-7B8B-D020-6FEBB4AE7E5A}"/>
              </a:ext>
            </a:extLst>
          </p:cNvPr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s-CO" sz="3600" b="1" dirty="0">
              <a:solidFill>
                <a:srgbClr val="38BDF8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B7D8675C-CEE6-4D8D-8C0F-21D6C2DD264E}"/>
              </a:ext>
            </a:extLst>
          </p:cNvPr>
          <p:cNvSpPr/>
          <p:nvPr/>
        </p:nvSpPr>
        <p:spPr>
          <a:xfrm>
            <a:off x="524784" y="1427948"/>
            <a:ext cx="5571858" cy="7247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CO" sz="1200" i="1" dirty="0">
                <a:latin typeface="fkGroteskNeue"/>
              </a:rPr>
              <a:t>En caso de requerirse, a continuación se presenta la arquitectura hipotética de la solución en AWS</a:t>
            </a:r>
            <a:endParaRPr lang="es-CO" sz="1200" dirty="0">
              <a:latin typeface="fkGroteskNeue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03A5C717-85D3-3B14-F035-27631EB3E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47" y="2990785"/>
            <a:ext cx="8617305" cy="716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661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D19168-4372-C370-5304-60959D7A3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2DDBE5C-7AA3-1090-445A-737BBE151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48B319C-05EB-6A00-301B-3E3ADC423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E8120B-E8D7-F2EB-4338-CD57C9137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181595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192E814-4132-EB59-8DAB-595EEC0AB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0"/>
            <a:ext cx="9144001" cy="118073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5E8FA18-60C1-1CD2-82E4-4148A294D6DF}"/>
              </a:ext>
            </a:extLst>
          </p:cNvPr>
          <p:cNvSpPr/>
          <p:nvPr/>
        </p:nvSpPr>
        <p:spPr>
          <a:xfrm>
            <a:off x="524784" y="186028"/>
            <a:ext cx="5297791" cy="869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CO" sz="28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Conclusiones</a:t>
            </a: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3DD038B1-E1E5-D067-D494-2C701E4F6853}"/>
              </a:ext>
            </a:extLst>
          </p:cNvPr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s-CO" sz="3600" b="1" dirty="0">
              <a:solidFill>
                <a:srgbClr val="38BDF8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B09323C0-32D2-C03D-996F-BF589688972C}"/>
              </a:ext>
            </a:extLst>
          </p:cNvPr>
          <p:cNvSpPr/>
          <p:nvPr/>
        </p:nvSpPr>
        <p:spPr>
          <a:xfrm>
            <a:off x="524784" y="1427947"/>
            <a:ext cx="5571858" cy="2906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CO" sz="1100" dirty="0">
                <a:cs typeface="Arial" panose="020B0604020202020204" pitchFamily="34" charset="0"/>
              </a:rPr>
              <a:t>Con las cifras obtenidas y la información disponible, el despliegue de este modelo esta sesgado a producir más ruido operativo que valor real. La recomendación es detener el pase a producción y enfocar el esfuerzo en enriquecimiento de datos (datos externos de siniestralidad o telemática por ejemplo) para mejorar la separabilidad de las clases. </a:t>
            </a:r>
          </a:p>
          <a:p>
            <a:pPr algn="just"/>
            <a:endParaRPr lang="es-CO" sz="1100" dirty="0">
              <a:cs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CO" sz="1100" dirty="0">
                <a:cs typeface="Arial" panose="020B0604020202020204" pitchFamily="34" charset="0"/>
              </a:rPr>
              <a:t>Limitación de Señal en Data Actual: El análisis de importancia de variables y la evaluación del modelo confirman que el </a:t>
            </a:r>
            <a:r>
              <a:rPr lang="es-CO" sz="1100" dirty="0" err="1">
                <a:cs typeface="Arial" panose="020B0604020202020204" pitchFamily="34" charset="0"/>
              </a:rPr>
              <a:t>dataset</a:t>
            </a:r>
            <a:r>
              <a:rPr lang="es-CO" sz="1100" dirty="0">
                <a:cs typeface="Arial" panose="020B0604020202020204" pitchFamily="34" charset="0"/>
              </a:rPr>
              <a:t> actual (basado mayoritariamente en </a:t>
            </a:r>
            <a:r>
              <a:rPr lang="es-CO" sz="1100" dirty="0" err="1">
                <a:cs typeface="Arial" panose="020B0604020202020204" pitchFamily="34" charset="0"/>
              </a:rPr>
              <a:t>specs</a:t>
            </a:r>
            <a:r>
              <a:rPr lang="es-CO" sz="1100" dirty="0">
                <a:cs typeface="Arial" panose="020B0604020202020204" pitchFamily="34" charset="0"/>
              </a:rPr>
              <a:t> técnicas del vehículo) no contiene los drivers fundamentales del riesgo de reclamo. La predictibilidad está estancada en un AUC de 0.63, lo cual es insuficiente para una operación automatizada.</a:t>
            </a:r>
          </a:p>
          <a:p>
            <a:pPr algn="just"/>
            <a:endParaRPr lang="es-CO" sz="1100" dirty="0">
              <a:cs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CO" sz="1100" dirty="0">
                <a:cs typeface="Arial" panose="020B0604020202020204" pitchFamily="34" charset="0"/>
              </a:rPr>
              <a:t>Riesgo Operativo de Falsos Positivos: El despliegue actual generaría una alta tasa de falsos positivos en el Top 20% de riesgo. Esto se traduce en una fricción innecesaria con clientes leales y un posible incremento en la pérdida de cartera (</a:t>
            </a:r>
            <a:r>
              <a:rPr lang="es-CO" sz="1100" dirty="0" err="1">
                <a:cs typeface="Arial" panose="020B0604020202020204" pitchFamily="34" charset="0"/>
              </a:rPr>
              <a:t>churn</a:t>
            </a:r>
            <a:r>
              <a:rPr lang="es-CO" sz="1100" dirty="0">
                <a:cs typeface="Arial" panose="020B0604020202020204" pitchFamily="34" charset="0"/>
              </a:rPr>
              <a:t>) si se toman decisiones de tarificación basadas únicamente en este </a:t>
            </a:r>
            <a:r>
              <a:rPr lang="es-CO" sz="1100" dirty="0" err="1">
                <a:cs typeface="Arial" panose="020B0604020202020204" pitchFamily="34" charset="0"/>
              </a:rPr>
              <a:t>modelo.Metodología</a:t>
            </a:r>
            <a:r>
              <a:rPr lang="es-CO" sz="1100" dirty="0">
                <a:cs typeface="Arial" panose="020B0604020202020204" pitchFamily="34" charset="0"/>
              </a:rPr>
              <a:t> como Salvaguarda: La aplicación de CRISP-DM permitió detener el proceso en la fase de Evaluación antes de comprometer recursos en un despliegue fallido, protegiendo así el ROI de la Gerencia de Data &amp; Analítica.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s-CO" sz="1100" dirty="0">
              <a:cs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CO" sz="1000" dirty="0">
                <a:cs typeface="Arial" panose="020B0604020202020204" pitchFamily="34" charset="0"/>
              </a:rPr>
              <a:t>Ruido en los KPI: Aunque el </a:t>
            </a:r>
            <a:r>
              <a:rPr lang="es-CO" sz="1000" dirty="0" err="1">
                <a:cs typeface="Arial" panose="020B0604020202020204" pitchFamily="34" charset="0"/>
              </a:rPr>
              <a:t>lif</a:t>
            </a:r>
            <a:r>
              <a:rPr lang="es-CO" sz="1000" dirty="0">
                <a:cs typeface="Arial" panose="020B0604020202020204" pitchFamily="34" charset="0"/>
              </a:rPr>
              <a:t> @ k de 1.55  es moderado y el </a:t>
            </a:r>
            <a:r>
              <a:rPr lang="es-CO" sz="1000" dirty="0" err="1">
                <a:cs typeface="Arial" panose="020B0604020202020204" pitchFamily="34" charset="0"/>
              </a:rPr>
              <a:t>recall</a:t>
            </a:r>
            <a:r>
              <a:rPr lang="es-CO" sz="1000" dirty="0">
                <a:cs typeface="Arial" panose="020B0604020202020204" pitchFamily="34" charset="0"/>
              </a:rPr>
              <a:t>  @ k mejora un 11% respecto al </a:t>
            </a:r>
            <a:r>
              <a:rPr lang="es-CO" sz="1000" dirty="0" err="1">
                <a:cs typeface="Arial" panose="020B0604020202020204" pitchFamily="34" charset="0"/>
              </a:rPr>
              <a:t>baseline</a:t>
            </a:r>
            <a:r>
              <a:rPr lang="es-CO" sz="1000" dirty="0">
                <a:cs typeface="Arial" panose="020B0604020202020204" pitchFamily="34" charset="0"/>
              </a:rPr>
              <a:t>, la cantidad de falsos positivos representa un problema que afecta la operatividad de manera inaceptable.</a:t>
            </a:r>
          </a:p>
        </p:txBody>
      </p:sp>
    </p:spTree>
    <p:extLst>
      <p:ext uri="{BB962C8B-B14F-4D97-AF65-F5344CB8AC3E}">
        <p14:creationId xmlns:p14="http://schemas.microsoft.com/office/powerpoint/2010/main" val="3848706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817</Words>
  <Application>Microsoft Office PowerPoint</Application>
  <PresentationFormat>Presentación en pantalla (16:9)</PresentationFormat>
  <Paragraphs>108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fkGroteskNeue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Alexis Abreu Garzon</cp:lastModifiedBy>
  <cp:revision>2</cp:revision>
  <dcterms:created xsi:type="dcterms:W3CDTF">2026-02-03T00:09:39Z</dcterms:created>
  <dcterms:modified xsi:type="dcterms:W3CDTF">2026-02-03T02:06:58Z</dcterms:modified>
</cp:coreProperties>
</file>